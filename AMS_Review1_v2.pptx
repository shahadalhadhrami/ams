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81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5029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Management System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127248"/>
            <a:ext cx="27432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7" name="Text 4"/>
          <p:cNvSpPr/>
          <p:nvPr/>
        </p:nvSpPr>
        <p:spPr>
          <a:xfrm>
            <a:off x="228600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Aziz Al-hadhrami  |  Aya Said Al-raqumi  |  Shahad Hamed Al-brumi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Narayanasamy Rajendran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|  Cyber Security Specialization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3383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recorded in different files — prone to errors and missing data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87168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41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calculations are done manually, causing delays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08376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9626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academic data may not be fully protected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9584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4838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for multi-phase project evaluations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50792"/>
            <a:ext cx="210312" cy="2103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4005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who entered or changed a mark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1234440"/>
            <a:ext cx="393192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48640" cy="5486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29200" y="2057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AMS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029200" y="249631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and centralized web-based system for managing and consolidating course project assessments.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simplify the entire process with role-based access for students, staff (reviewers &amp; supervisors), and coordinators.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303520" y="4114800"/>
            <a:ext cx="2834640" cy="0"/>
          </a:xfrm>
          <a:prstGeom prst="line">
            <a:avLst/>
          </a:prstGeom>
          <a:noFill/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2" name="Text 14"/>
          <p:cNvSpPr/>
          <p:nvPr/>
        </p:nvSpPr>
        <p:spPr>
          <a:xfrm>
            <a:off x="5029200" y="4206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Confidentiality, Integrity &amp; Availability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029200" y="4553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Cyber Security students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5179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secure login interfaces for all assessors, with MFA and brute-force protection.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5179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Mark Entry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entry of marks for Proposal, First Review, Second Review, and Final Review.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5" name="Shape 11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5179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Auto-Consolidation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all assessment marks automatically using configurable aggregation methods.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0" name="Shape 15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3924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Principles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Confidentiality, Integrity, and Availability throughout system architecture and data handling.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108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5" name="Shape 19"/>
          <p:cNvSpPr/>
          <p:nvPr/>
        </p:nvSpPr>
        <p:spPr>
          <a:xfrm>
            <a:off x="3474720" y="32918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3924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Audit Reports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secure, auditable reports for academic records with full activity logging.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108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0" name="Shape 23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33924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Control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0936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coordinators to manage semesters, projects, proxy entry, and final grade oversight.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Coordinator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screens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Panel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Reviewer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Panel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(read-only)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4526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8229600" cy="4526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6" name="Shape 24"/>
          <p:cNvSpPr/>
          <p:nvPr/>
        </p:nvSpPr>
        <p:spPr>
          <a:xfrm>
            <a:off x="640080" y="3346704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7" name="Text 25"/>
          <p:cNvSpPr/>
          <p:nvPr/>
        </p:nvSpPr>
        <p:spPr>
          <a:xfrm>
            <a:off x="64008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799332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0" name="Text 28"/>
          <p:cNvSpPr/>
          <p:nvPr/>
        </p:nvSpPr>
        <p:spPr>
          <a:xfrm>
            <a:off x="640080" y="37993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7993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FilamentPHP v5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251960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3" name="Text 31"/>
          <p:cNvSpPr/>
          <p:nvPr/>
        </p:nvSpPr>
        <p:spPr>
          <a:xfrm>
            <a:off x="64008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2024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Fortify + MFA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704588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6" name="Text 34"/>
          <p:cNvSpPr/>
          <p:nvPr/>
        </p:nvSpPr>
        <p:spPr>
          <a:xfrm>
            <a:off x="640080" y="47045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47045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Permission v7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346704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9" name="Text 37"/>
          <p:cNvSpPr/>
          <p:nvPr/>
        </p:nvSpPr>
        <p:spPr>
          <a:xfrm>
            <a:off x="475488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Activitylog v4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99332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42" name="Text 40"/>
          <p:cNvSpPr/>
          <p:nvPr/>
        </p:nvSpPr>
        <p:spPr>
          <a:xfrm>
            <a:off x="4754880" y="37993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37993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4251960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45" name="Text 43"/>
          <p:cNvSpPr/>
          <p:nvPr/>
        </p:nvSpPr>
        <p:spPr>
          <a:xfrm>
            <a:off x="475488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4704588"/>
            <a:ext cx="1188720" cy="2743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48" name="Text 46"/>
          <p:cNvSpPr/>
          <p:nvPr/>
        </p:nvSpPr>
        <p:spPr>
          <a:xfrm>
            <a:off x="4754880" y="47045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35040" y="47045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DomPDF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3246120"/>
            <a:ext cx="0" cy="181051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1" name="Shape 49"/>
          <p:cNvSpPr/>
          <p:nvPr/>
        </p:nvSpPr>
        <p:spPr>
          <a:xfrm>
            <a:off x="457200" y="369874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2" name="Shape 50"/>
          <p:cNvSpPr/>
          <p:nvPr/>
        </p:nvSpPr>
        <p:spPr>
          <a:xfrm>
            <a:off x="457200" y="4151376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3" name="Shape 51"/>
          <p:cNvSpPr/>
          <p:nvPr/>
        </p:nvSpPr>
        <p:spPr>
          <a:xfrm>
            <a:off x="457200" y="4604004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is our core focus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61872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7" name="Shape 4"/>
          <p:cNvSpPr/>
          <p:nvPr/>
        </p:nvSpPr>
        <p:spPr>
          <a:xfrm>
            <a:off x="457200" y="1261872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4475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4264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 (MFA)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19293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TOTP-based MFA via Laravel Fortify for all user accounts — reduces unauthorized access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1261872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2" name="Shape 8"/>
          <p:cNvSpPr/>
          <p:nvPr/>
        </p:nvSpPr>
        <p:spPr>
          <a:xfrm>
            <a:off x="3291840" y="1261872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44475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1920" y="14264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474720" y="19293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isolated roles with strict panel separation (Admin, Staff, Student) via Spatie Permission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126480" y="1261872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2"/>
          <p:cNvSpPr/>
          <p:nvPr/>
        </p:nvSpPr>
        <p:spPr>
          <a:xfrm>
            <a:off x="6126480" y="1261872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44475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14264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— Data at Rest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309360" y="19293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AES-256 encryption for all database data. Faster processing with lower overhead than asymmetric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3090672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2" name="Shape 16"/>
          <p:cNvSpPr/>
          <p:nvPr/>
        </p:nvSpPr>
        <p:spPr>
          <a:xfrm>
            <a:off x="457200" y="3090672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7355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2552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HTTPS — In Transit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4008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encrypted via TLS 1.3 over HTTPS — prevents Man-in-the-Middle (MITM) attacks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291840" y="3090672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7" name="Shape 20"/>
          <p:cNvSpPr/>
          <p:nvPr/>
        </p:nvSpPr>
        <p:spPr>
          <a:xfrm>
            <a:off x="3291840" y="3090672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273552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31920" y="32552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47472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hashed using bcrypt with adaptive cost factor — resistant to brute-force attacks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126480" y="3090672"/>
            <a:ext cx="2560320" cy="16002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2" name="Shape 24"/>
          <p:cNvSpPr/>
          <p:nvPr/>
        </p:nvSpPr>
        <p:spPr>
          <a:xfrm>
            <a:off x="6126480" y="3090672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73552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66560" y="32552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&amp; Audit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30936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for brute-force protection. Full activity logging for every mark change, unlock, and override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685800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07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Master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departments, specializations, courses, grading_scales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Text 10"/>
          <p:cNvSpPr/>
          <p:nvPr/>
        </p:nvSpPr>
        <p:spPr>
          <a:xfrm>
            <a:off x="4983480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307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Pool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938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rubric_templates, criteria, score_levels, phase_templates, phase_rubric_rules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Text 16"/>
          <p:cNvSpPr/>
          <p:nvPr/>
        </p:nvSpPr>
        <p:spPr>
          <a:xfrm>
            <a:off x="68580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044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Sandbox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6758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semesters, projects, project_student, project_reviewer, coordinator_semester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4" name="Text 22"/>
          <p:cNvSpPr/>
          <p:nvPr/>
        </p:nvSpPr>
        <p:spPr>
          <a:xfrm>
            <a:off x="498348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044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Scoring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6758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evaluations, evaluation_scores, consolidated_marks, consolidated_mark_components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4636008"/>
            <a:ext cx="365760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9" name="Text 27"/>
          <p:cNvSpPr/>
          <p:nvPr/>
        </p:nvSpPr>
        <p:spPr>
          <a:xfrm>
            <a:off x="2743200" y="4636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Tables  |  4 Domains  |  82 Functional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3035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47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real-time widgets and charts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671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(Users, Projects, Rubrics via CSV)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432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and Specializations management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5234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724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management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4495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3017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Scaling configuration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with role assignment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0168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51560" y="3602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Templates with criteria and score levels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22776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51560" y="3895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Panel — fully developed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15384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51560" y="4187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 — fully developed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07992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5156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Panel — fully developed</a:t>
            </a:r>
            <a:endParaRPr lang="en-US" sz="1100" dirty="0"/>
          </a:p>
        </p:txBody>
      </p:sp>
      <p:sp>
        <p:nvSpPr>
          <p:cNvPr id="27" name="Shape 15"/>
          <p:cNvSpPr/>
          <p:nvPr/>
        </p:nvSpPr>
        <p:spPr>
          <a:xfrm>
            <a:off x="6126480" y="1234440"/>
            <a:ext cx="256032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8" name="Text 16"/>
          <p:cNvSpPr/>
          <p:nvPr/>
        </p:nvSpPr>
        <p:spPr>
          <a:xfrm>
            <a:off x="6126480" y="12710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29" name="Text 17"/>
          <p:cNvSpPr/>
          <p:nvPr/>
        </p:nvSpPr>
        <p:spPr>
          <a:xfrm>
            <a:off x="7132320" y="1280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300" dirty="0"/>
          </a:p>
        </p:txBody>
      </p:sp>
      <p:sp>
        <p:nvSpPr>
          <p:cNvPr id="30" name="Text 18"/>
          <p:cNvSpPr/>
          <p:nvPr/>
        </p:nvSpPr>
        <p:spPr>
          <a:xfrm>
            <a:off x="7132320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Staff + Student</a:t>
            </a:r>
            <a:endParaRPr lang="en-US" sz="900" dirty="0"/>
          </a:p>
        </p:txBody>
      </p:sp>
      <p:sp>
        <p:nvSpPr>
          <p:cNvPr id="31" name="Shape 19"/>
          <p:cNvSpPr/>
          <p:nvPr/>
        </p:nvSpPr>
        <p:spPr>
          <a:xfrm>
            <a:off x="6126480" y="21488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2" name="Text 20"/>
          <p:cNvSpPr/>
          <p:nvPr/>
        </p:nvSpPr>
        <p:spPr>
          <a:xfrm>
            <a:off x="6126480" y="21854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2800" dirty="0"/>
          </a:p>
        </p:txBody>
      </p:sp>
      <p:sp>
        <p:nvSpPr>
          <p:cNvPr id="33" name="Text 21"/>
          <p:cNvSpPr/>
          <p:nvPr/>
        </p:nvSpPr>
        <p:spPr>
          <a:xfrm>
            <a:off x="7132320" y="2194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4" name="Text 22"/>
          <p:cNvSpPr/>
          <p:nvPr/>
        </p:nvSpPr>
        <p:spPr>
          <a:xfrm>
            <a:off x="713232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6126480" y="30632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6" name="Text 24"/>
          <p:cNvSpPr/>
          <p:nvPr/>
        </p:nvSpPr>
        <p:spPr>
          <a:xfrm>
            <a:off x="6126480" y="30998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25"/>
          <p:cNvSpPr/>
          <p:nvPr/>
        </p:nvSpPr>
        <p:spPr>
          <a:xfrm>
            <a:off x="713232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7132320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6126480" y="39776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40" name="Text 28"/>
          <p:cNvSpPr/>
          <p:nvPr/>
        </p:nvSpPr>
        <p:spPr>
          <a:xfrm>
            <a:off x="6126480" y="40142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41" name="Text 29"/>
          <p:cNvSpPr/>
          <p:nvPr/>
        </p:nvSpPr>
        <p:spPr>
          <a:xfrm>
            <a:off x="7132320" y="4023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300" dirty="0"/>
          </a:p>
        </p:txBody>
      </p:sp>
      <p:sp>
        <p:nvSpPr>
          <p:cNvPr id="42" name="Text 30"/>
          <p:cNvSpPr/>
          <p:nvPr/>
        </p:nvSpPr>
        <p:spPr>
          <a:xfrm>
            <a:off x="713232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Domains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&amp; Coordinator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+ MFA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27048"/>
            <a:ext cx="384048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18872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9" name="Text 6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527048"/>
            <a:ext cx="384048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40599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4297680"/>
            <a:ext cx="2560320" cy="731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40599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Templates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91840" y="4297680"/>
            <a:ext cx="2560320" cy="7315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6480" y="40599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4297680"/>
            <a:ext cx="25603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&amp; Reviewer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Dashboard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475488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188720"/>
            <a:ext cx="310896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9280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1847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supervision and review sections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30428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2258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evaluation form with rubric rendering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71576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2670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individual scoring in same rubric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127248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7220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draft or submit with confirmation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538728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220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 view with team and progress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950208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72200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order enforcement per evaluator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Student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475488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Features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7452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project info and teammates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24028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supervisor name and course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60604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internal marks (supervisor)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97180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722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consolidated final marks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337560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220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letter grade and GPA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70332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7220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strictly read-only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069080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1722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identities stay anonymous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5" name="Text 1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only their own marks. Reviewer identities remain anonymous throughout the process.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727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testing, vulnerability assessment, and security audit of the entire 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5727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5778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2057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testing, query optimization, and caching strategy implementation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7" name="Shape 13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015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5760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2801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real supervisors, reviewers, and coordinators for feedback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3" name="Shape 18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40156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95528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5778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93776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setup, user manual, and admin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210312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804672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7" name="Text 4"/>
          <p:cNvSpPr/>
          <p:nvPr/>
        </p:nvSpPr>
        <p:spPr>
          <a:xfrm>
            <a:off x="822960" y="118872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provides a secure and centralized solution for managing course project assessments in universities. It improves accuracy, saves time, and ensures data security through well-designed features and access control.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this system can make the assessment process more efficient and reliable for all users.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383280"/>
            <a:ext cx="2194560" cy="13716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474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913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4224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consolidation eliminates manual calculation errors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83280" y="3383280"/>
            <a:ext cx="2194560" cy="13716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474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280" y="3913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383280" y="4224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TLS 1.3, MFA, RBAC, and full audit trail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943600" y="3383280"/>
            <a:ext cx="2194560" cy="13716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4747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0" y="3913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943600" y="4224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 accessible to all stakeholders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OM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Aziz  |  Aya Said  |  Shahad Hamed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178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Narayanasamy Rajendran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Management System  |  Review 1  |  Department of Information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913</Words>
  <Application>Microsoft Macintosh PowerPoint</Application>
  <PresentationFormat>On-screen Show (16:9)</PresentationFormat>
  <Paragraphs>188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– Review 1 Presentation</dc:title>
  <dc:subject>PptxGenJS Presentation</dc:subject>
  <dc:creator>PptxGenJS</dc:creator>
  <cp:lastModifiedBy>Almuntaser Alsamri</cp:lastModifiedBy>
  <cp:revision>1</cp:revision>
  <dcterms:created xsi:type="dcterms:W3CDTF">2026-03-26T23:44:25Z</dcterms:created>
  <dcterms:modified xsi:type="dcterms:W3CDTF">2026-03-26T23:49:00Z</dcterms:modified>
</cp:coreProperties>
</file>